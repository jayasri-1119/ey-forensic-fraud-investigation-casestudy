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10" r:id="rId4"/>
  </p:sldMasterIdLst>
  <p:notesMasterIdLst>
    <p:notesMasterId r:id="rId6"/>
  </p:notesMasterIdLst>
  <p:handoutMasterIdLst>
    <p:handoutMasterId r:id="rId7"/>
  </p:handoutMasterIdLst>
  <p:sldIdLst>
    <p:sldId id="280" r:id="rId5"/>
  </p:sldIdLst>
  <p:sldSz cx="1219835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47480"/>
    <a:srgbClr val="C4C4CD"/>
    <a:srgbClr val="FFE600"/>
    <a:srgbClr val="FFFFFF"/>
    <a:srgbClr val="2E2E38"/>
    <a:srgbClr val="808080"/>
    <a:srgbClr val="FF9A91"/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5" autoAdjust="0"/>
    <p:restoredTop sz="93302" autoAdjust="0"/>
  </p:normalViewPr>
  <p:slideViewPr>
    <p:cSldViewPr snapToGrid="0" snapToObjects="1" showGuides="1">
      <p:cViewPr>
        <p:scale>
          <a:sx n="100" d="100"/>
          <a:sy n="100" d="100"/>
        </p:scale>
        <p:origin x="187" y="-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157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-2004" y="-9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10/02/2026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10/02/2026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16267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7330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walking on a colorful surface&#10;&#10;Description automatically generated">
            <a:extLst>
              <a:ext uri="{FF2B5EF4-FFF2-40B4-BE49-F238E27FC236}">
                <a16:creationId xmlns:a16="http://schemas.microsoft.com/office/drawing/2014/main" id="{D925500D-1DC2-E085-D185-C9BD7C16375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5" t="4010" r="9741" b="23933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1B7F23-2FE6-41E1-BA29-BCCAE46D192E}"/>
              </a:ext>
            </a:extLst>
          </p:cNvPr>
          <p:cNvSpPr/>
          <p:nvPr userDrawn="1"/>
        </p:nvSpPr>
        <p:spPr>
          <a:xfrm>
            <a:off x="498116" y="1032328"/>
            <a:ext cx="3565884" cy="2680311"/>
          </a:xfrm>
          <a:custGeom>
            <a:avLst/>
            <a:gdLst>
              <a:gd name="connsiteX0" fmla="*/ 3565884 w 3565884"/>
              <a:gd name="connsiteY0" fmla="*/ 0 h 2680311"/>
              <a:gd name="connsiteX1" fmla="*/ 3565884 w 3565884"/>
              <a:gd name="connsiteY1" fmla="*/ 2680311 h 2680311"/>
              <a:gd name="connsiteX2" fmla="*/ 0 w 3565884"/>
              <a:gd name="connsiteY2" fmla="*/ 2680311 h 2680311"/>
              <a:gd name="connsiteX3" fmla="*/ 0 w 3565884"/>
              <a:gd name="connsiteY3" fmla="*/ 628761 h 2680311"/>
              <a:gd name="connsiteX4" fmla="*/ 3565884 w 3565884"/>
              <a:gd name="connsiteY4" fmla="*/ 0 h 268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5884" h="2680311">
                <a:moveTo>
                  <a:pt x="3565884" y="0"/>
                </a:moveTo>
                <a:lnTo>
                  <a:pt x="3565884" y="2680311"/>
                </a:lnTo>
                <a:lnTo>
                  <a:pt x="0" y="2680311"/>
                </a:lnTo>
                <a:lnTo>
                  <a:pt x="0" y="628761"/>
                </a:lnTo>
                <a:lnTo>
                  <a:pt x="3565884" y="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799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3004016" cy="979702"/>
          </a:xfrm>
        </p:spPr>
        <p:txBody>
          <a:bodyPr/>
          <a:lstStyle>
            <a:lvl1pPr>
              <a:defRPr sz="2999" b="0">
                <a:solidFill>
                  <a:schemeClr val="tx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60"/>
            <a:ext cx="3004016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tx1"/>
                </a:solidFill>
                <a:latin typeface="EYInterstate Regular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7A7C78-A6FE-E453-F5FB-1084EE36E075}"/>
              </a:ext>
            </a:extLst>
          </p:cNvPr>
          <p:cNvSpPr>
            <a:spLocks/>
          </p:cNvSpPr>
          <p:nvPr userDrawn="1"/>
        </p:nvSpPr>
        <p:spPr>
          <a:xfrm>
            <a:off x="0" y="4511040"/>
            <a:ext cx="12198350" cy="234696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88B506-D276-ADDB-EB14-0AE62B8958D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BC0E2DE9-C7C2-CE21-3846-4CEDE2AFE8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67E2B4B3-F54C-A34A-DA90-A0F5BA2326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865254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 userDrawn="1"/>
        </p:nvSpPr>
        <p:spPr>
          <a:xfrm>
            <a:off x="489367" y="723658"/>
            <a:ext cx="5680945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8936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77469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1059911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grpSp>
        <p:nvGrpSpPr>
          <p:cNvPr id="104" name="Group 4">
            <a:extLst>
              <a:ext uri="{FF2B5EF4-FFF2-40B4-BE49-F238E27FC236}">
                <a16:creationId xmlns:a16="http://schemas.microsoft.com/office/drawing/2014/main" id="{89402076-F24D-44C5-B8A7-1127F9C4B9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A239DDBF-0740-4B20-9CF3-A05C2A0BF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06" name="Freeform 6">
              <a:extLst>
                <a:ext uri="{FF2B5EF4-FFF2-40B4-BE49-F238E27FC236}">
                  <a16:creationId xmlns:a16="http://schemas.microsoft.com/office/drawing/2014/main" id="{380EECCA-3396-425E-AB04-F11ABB1B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066056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32889845-07EE-48FB-A972-F8ECF1EF87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819BCB30-E1AA-4383-BEF0-0BE30C6425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366" y="869578"/>
            <a:ext cx="4848024" cy="3933825"/>
          </a:xfrm>
          <a:prstGeom prst="rect">
            <a:avLst/>
          </a:prstGeom>
        </p:spPr>
      </p:pic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82" name="Group 4">
            <a:extLst>
              <a:ext uri="{FF2B5EF4-FFF2-40B4-BE49-F238E27FC236}">
                <a16:creationId xmlns:a16="http://schemas.microsoft.com/office/drawing/2014/main" id="{A63454B3-EB4E-450A-98AA-6B5943D8973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C4ED221A-C963-42C0-91ED-C597F6BDA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7956D1CB-5F24-4766-80AE-D755153834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419996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0" y="296863"/>
            <a:ext cx="11017250" cy="61118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09893-F541-42A5-CC40-4CD5A2C82BAF}"/>
              </a:ext>
            </a:extLst>
          </p:cNvPr>
          <p:cNvSpPr>
            <a:spLocks/>
          </p:cNvSpPr>
          <p:nvPr userDrawn="1"/>
        </p:nvSpPr>
        <p:spPr>
          <a:xfrm>
            <a:off x="453549" y="296862"/>
            <a:ext cx="86201" cy="611187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5BCA6174-BE05-AE35-C248-30C8888CE6C7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965591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8B6E06C-88EF-AF3A-0D7E-1DABFCF0137D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5934541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633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794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700804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129049-E3D5-4C0A-BB1F-72BEDB1FB5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6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2004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01A2F11-32A0-4526-A5F7-F4382DA5B4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5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6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3BDE2E-2BCF-4140-945E-7D5610CDE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4" y="0"/>
            <a:ext cx="12192005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9420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6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8E40445-96C1-4E4B-4EE3-0B7C23175D60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423129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09" r:id="rId4"/>
    <p:sldLayoutId id="2147484060" r:id="rId5"/>
    <p:sldLayoutId id="2147484015" r:id="rId6"/>
    <p:sldLayoutId id="2147484034" r:id="rId7"/>
    <p:sldLayoutId id="2147484035" r:id="rId8"/>
    <p:sldLayoutId id="2147484036" r:id="rId9"/>
    <p:sldLayoutId id="2147484037" r:id="rId10"/>
    <p:sldLayoutId id="2147484038" r:id="rId1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 userDrawn="1">
          <p15:clr>
            <a:srgbClr val="F26B43"/>
          </p15:clr>
        </p15:guide>
        <p15:guide id="2" pos="7322" userDrawn="1">
          <p15:clr>
            <a:srgbClr val="F26B43"/>
          </p15:clr>
        </p15:guide>
        <p15:guide id="3" orient="horz" pos="38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A9CD-CBBB-86C4-6753-8D37ED5D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0"/>
            <a:r>
              <a:rPr lang="en-IN" dirty="0">
                <a:latin typeface="+mn-lt"/>
              </a:rPr>
              <a:t>Crossword puzzle</a:t>
            </a:r>
            <a:br>
              <a:rPr lang="en-IN" dirty="0">
                <a:latin typeface="+mn-lt"/>
              </a:rPr>
            </a:br>
            <a:r>
              <a:rPr lang="en-IN" sz="1800" dirty="0">
                <a:solidFill>
                  <a:srgbClr val="FFE600"/>
                </a:solidFill>
                <a:latin typeface="+mn-lt"/>
              </a:rPr>
              <a:t>Activity</a:t>
            </a:r>
            <a:endParaRPr lang="en-IN" dirty="0">
              <a:solidFill>
                <a:srgbClr val="FFE600"/>
              </a:solidFill>
              <a:latin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2C400F-C172-8A22-DCF2-372B6253B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833150"/>
              </p:ext>
            </p:extLst>
          </p:nvPr>
        </p:nvGraphicFramePr>
        <p:xfrm>
          <a:off x="590550" y="1114816"/>
          <a:ext cx="6761102" cy="4978388"/>
        </p:xfrm>
        <a:graphic>
          <a:graphicData uri="http://schemas.openxmlformats.org/drawingml/2006/table">
            <a:tbl>
              <a:tblPr/>
              <a:tblGrid>
                <a:gridCol w="372610">
                  <a:extLst>
                    <a:ext uri="{9D8B030D-6E8A-4147-A177-3AD203B41FA5}">
                      <a16:colId xmlns:a16="http://schemas.microsoft.com/office/drawing/2014/main" val="102616338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35692577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813508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9214674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66968496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467504586"/>
                    </a:ext>
                  </a:extLst>
                </a:gridCol>
                <a:gridCol w="297990">
                  <a:extLst>
                    <a:ext uri="{9D8B030D-6E8A-4147-A177-3AD203B41FA5}">
                      <a16:colId xmlns:a16="http://schemas.microsoft.com/office/drawing/2014/main" val="4133099662"/>
                    </a:ext>
                  </a:extLst>
                </a:gridCol>
                <a:gridCol w="238890">
                  <a:extLst>
                    <a:ext uri="{9D8B030D-6E8A-4147-A177-3AD203B41FA5}">
                      <a16:colId xmlns:a16="http://schemas.microsoft.com/office/drawing/2014/main" val="172178901"/>
                    </a:ext>
                  </a:extLst>
                </a:gridCol>
                <a:gridCol w="378330">
                  <a:extLst>
                    <a:ext uri="{9D8B030D-6E8A-4147-A177-3AD203B41FA5}">
                      <a16:colId xmlns:a16="http://schemas.microsoft.com/office/drawing/2014/main" val="149475956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857252729"/>
                    </a:ext>
                  </a:extLst>
                </a:gridCol>
                <a:gridCol w="248352">
                  <a:extLst>
                    <a:ext uri="{9D8B030D-6E8A-4147-A177-3AD203B41FA5}">
                      <a16:colId xmlns:a16="http://schemas.microsoft.com/office/drawing/2014/main" val="181664660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16816627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130113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71540165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713331862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89393481"/>
                    </a:ext>
                  </a:extLst>
                </a:gridCol>
                <a:gridCol w="362057">
                  <a:extLst>
                    <a:ext uri="{9D8B030D-6E8A-4147-A177-3AD203B41FA5}">
                      <a16:colId xmlns:a16="http://schemas.microsoft.com/office/drawing/2014/main" val="3605901415"/>
                    </a:ext>
                  </a:extLst>
                </a:gridCol>
                <a:gridCol w="375781">
                  <a:extLst>
                    <a:ext uri="{9D8B030D-6E8A-4147-A177-3AD203B41FA5}">
                      <a16:colId xmlns:a16="http://schemas.microsoft.com/office/drawing/2014/main" val="238511107"/>
                    </a:ext>
                  </a:extLst>
                </a:gridCol>
                <a:gridCol w="379992">
                  <a:extLst>
                    <a:ext uri="{9D8B030D-6E8A-4147-A177-3AD203B41FA5}">
                      <a16:colId xmlns:a16="http://schemas.microsoft.com/office/drawing/2014/main" val="1550747615"/>
                    </a:ext>
                  </a:extLst>
                </a:gridCol>
              </a:tblGrid>
              <a:tr h="32996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8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9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5168639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7</a:t>
                      </a:r>
                    </a:p>
                  </a:txBody>
                  <a:tcPr marL="35981" marR="35981" marT="35981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4745634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221602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2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M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V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3272171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7686916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3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44622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z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 err="1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0439179"/>
                  </a:ext>
                </a:extLst>
              </a:tr>
              <a:tr h="30349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11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12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4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46695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 err="1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21829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5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683998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335950"/>
                  </a:ext>
                </a:extLst>
              </a:tr>
              <a:tr h="316618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k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731653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742854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6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M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333940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690651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11430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552CD59-1617-3C9B-5103-F195CDF49854}"/>
              </a:ext>
            </a:extLst>
          </p:cNvPr>
          <p:cNvSpPr txBox="1"/>
          <p:nvPr/>
        </p:nvSpPr>
        <p:spPr>
          <a:xfrm>
            <a:off x="7999963" y="1135063"/>
            <a:ext cx="3607837" cy="24974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Across: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misleading conduct with the objective to gain an illegal advantage (5)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Adherence to applicable laws and regulations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Act of offering someone money or something valuable to persuade them to do something for you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process or effort to collect and analyze information before making a decision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practice of being honest and showing a consistent and uncompromising adherence to strong moral and ethical principles and values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judgment or decision around the value, quantity or importance of something (10)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C00D0-1973-3647-1E80-495EF45B7FBB}"/>
              </a:ext>
            </a:extLst>
          </p:cNvPr>
          <p:cNvSpPr txBox="1"/>
          <p:nvPr/>
        </p:nvSpPr>
        <p:spPr>
          <a:xfrm>
            <a:off x="7999962" y="3749132"/>
            <a:ext cx="3607837" cy="2306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Down: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criminal offense undertaken by a person or organization entrusted with a position of authority, aimed at acquiring illicit benefits or abusing power for personal gain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To study or examine something carefully in a </a:t>
            </a:r>
            <a:br>
              <a:rPr lang="en-IN" altLang="zh-CN" sz="999" dirty="0">
                <a:solidFill>
                  <a:srgbClr val="F6F6FA"/>
                </a:solidFill>
              </a:rPr>
            </a:br>
            <a:r>
              <a:rPr lang="en-IN" altLang="zh-CN" sz="999" dirty="0">
                <a:solidFill>
                  <a:srgbClr val="F6F6FA"/>
                </a:solidFill>
              </a:rPr>
              <a:t>methodical way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process of examining a crime, or situation, carefully to discover the truth (13)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an instance of suspecting something wrong without proof or on slight evidence 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warning of danger (3 , 4)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possibility of something bad happening (4)</a:t>
            </a:r>
          </a:p>
        </p:txBody>
      </p:sp>
    </p:spTree>
    <p:extLst>
      <p:ext uri="{BB962C8B-B14F-4D97-AF65-F5344CB8AC3E}">
        <p14:creationId xmlns:p14="http://schemas.microsoft.com/office/powerpoint/2010/main" val="366781472"/>
      </p:ext>
    </p:extLst>
  </p:cSld>
  <p:clrMapOvr>
    <a:masterClrMapping/>
  </p:clrMapOvr>
</p:sld>
</file>

<file path=ppt/theme/theme1.xml><?xml version="1.0" encoding="utf-8"?>
<a:theme xmlns:a="http://schemas.openxmlformats.org/drawingml/2006/main" name="1_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B0C45EEE6990479EDCE9FBF3393F33" ma:contentTypeVersion="17" ma:contentTypeDescription="Create a new document." ma:contentTypeScope="" ma:versionID="2743115798152a5ca9125c7278b1353f">
  <xsd:schema xmlns:xsd="http://www.w3.org/2001/XMLSchema" xmlns:xs="http://www.w3.org/2001/XMLSchema" xmlns:p="http://schemas.microsoft.com/office/2006/metadata/properties" xmlns:ns2="360bc667-c660-437d-ac06-7ae103e1e08c" xmlns:ns3="0a05a48e-a8a0-4e94-b737-cb94a12c92cc" xmlns:ns4="50c908b1-f277-4340-90a9-4611d0b0f078" targetNamespace="http://schemas.microsoft.com/office/2006/metadata/properties" ma:root="true" ma:fieldsID="6b8f924976c42066b6f4a95c5d2732e0" ns2:_="" ns3:_="" ns4:_="">
    <xsd:import namespace="360bc667-c660-437d-ac06-7ae103e1e08c"/>
    <xsd:import namespace="0a05a48e-a8a0-4e94-b737-cb94a12c92cc"/>
    <xsd:import namespace="50c908b1-f277-4340-90a9-4611d0b0f0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Nextavailability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bc667-c660-437d-ac06-7ae103e1e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extavailability" ma:index="22" nillable="true" ma:displayName="Next availability" ma:format="DateTime" ma:internalName="Nextavailability">
      <xsd:simpleType>
        <xsd:restriction base="dms:DateTim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05a48e-a8a0-4e94-b737-cb94a12c92c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c908b1-f277-4340-90a9-4611d0b0f07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c230a700-dabc-46b8-8ac4-b26e8498b02f}" ma:internalName="TaxCatchAll" ma:showField="CatchAllData" ma:web="0a05a48e-a8a0-4e94-b737-cb94a12c92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0bc667-c660-437d-ac06-7ae103e1e08c">
      <Terms xmlns="http://schemas.microsoft.com/office/infopath/2007/PartnerControls"/>
    </lcf76f155ced4ddcb4097134ff3c332f>
    <TaxCatchAll xmlns="50c908b1-f277-4340-90a9-4611d0b0f078" xsi:nil="true"/>
    <Nextavailability xmlns="360bc667-c660-437d-ac06-7ae103e1e08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10D507-68B4-40C7-8D15-B517646FF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bc667-c660-437d-ac06-7ae103e1e08c"/>
    <ds:schemaRef ds:uri="0a05a48e-a8a0-4e94-b737-cb94a12c92cc"/>
    <ds:schemaRef ds:uri="50c908b1-f277-4340-90a9-4611d0b0f0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8EB3B6-C3E4-4050-8462-5E043823D9E0}">
  <ds:schemaRefs>
    <ds:schemaRef ds:uri="http://schemas.microsoft.com/office/2006/documentManagement/types"/>
    <ds:schemaRef ds:uri="http://schemas.microsoft.com/office/infopath/2007/PartnerControls"/>
    <ds:schemaRef ds:uri="50c908b1-f277-4340-90a9-4611d0b0f078"/>
    <ds:schemaRef ds:uri="360bc667-c660-437d-ac06-7ae103e1e08c"/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a05a48e-a8a0-4e94-b737-cb94a12c92c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A11C8E8-B23F-4903-9791-0758936979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306</Words>
  <Application>Microsoft Office PowerPoint</Application>
  <PresentationFormat>Custom</PresentationFormat>
  <Paragraphs>116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EYInterstate Light</vt:lpstr>
      <vt:lpstr>EYInterstate Regular</vt:lpstr>
      <vt:lpstr>1_EY dark background</vt:lpstr>
      <vt:lpstr>Crossword puzzle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2016-03-16T05:57:48Z</dcterms:created>
  <dcterms:modified xsi:type="dcterms:W3CDTF">2026-02-10T15:21:28Z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0x010100BAB0C45EEE6990479EDCE9FBF3393F33</vt:lpwstr>
  </property>
  <property fmtid="{D5CDD505-2E9C-101B-9397-08002B2CF9AE}" pid="3" name="MediaServiceImageTags">
    <vt:lpwstr/>
  </property>
</Properties>
</file>